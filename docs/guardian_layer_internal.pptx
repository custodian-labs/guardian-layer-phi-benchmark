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CUSTODIAN LABS · GUARDIAN LAYER · INTERNAL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18211E"/>
                </a:solidFill>
                <a:latin typeface="Georgia"/>
              </a:rPr>
              <a:t>What we learned about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4400" b="1" i="1">
                <a:solidFill>
                  <a:srgbClr val="0F6E5C"/>
                </a:solidFill>
                <a:latin typeface="Georgia"/>
              </a:rPr>
              <a:t>the privacy swap.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5C6B64"/>
                </a:solidFill>
                <a:latin typeface="Georgia"/>
              </a:rPr>
              <a:t>Two things matter: does it keep data usable, and does it hide enough? Here's the honest read on both.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9436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0533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C6B64"/>
                </a:solidFill>
                <a:latin typeface="Consolas"/>
              </a:rPr>
              <a:t>Internal — for the team. The client-facing deck covers the usability win only.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01 · THE GOOD NEWS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7800" b="1" i="0">
                <a:solidFill>
                  <a:srgbClr val="0F6E5C"/>
                </a:solidFill>
                <a:latin typeface="Consolas"/>
              </a:rPr>
              <a:t>97–100%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64"/>
                </a:solidFill>
                <a:latin typeface="Consolas"/>
              </a:rPr>
              <a:t>WHEN IT SWAPS SOMETHING, OTHER TOOLS STILL FIND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920240"/>
            <a:ext cx="56692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400" b="1" i="0">
                <a:solidFill>
                  <a:srgbClr val="18211E"/>
                </a:solidFill>
                <a:latin typeface="Georgia"/>
              </a:rPr>
              <a:t>The swap keeps data usable.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8211E"/>
                </a:solidFill>
                <a:latin typeface="Georgia"/>
              </a:rPr>
              <a:t>After swapping, other tools still spot the sensitive details almost every time, and the format (medical notes, forms, data files) stays exactly the same. Nothing downstream breaks.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C6B64"/>
                </a:solidFill>
                <a:latin typeface="Georgia"/>
              </a:rPr>
              <a:t>This is the client-facing win — solid across all 11 tools and 7 datasets.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02 · IS THE CHANGE SIGNIFICANT?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7800" b="1" i="0">
                <a:solidFill>
                  <a:srgbClr val="0F6E5C"/>
                </a:solidFill>
                <a:latin typeface="Consolas"/>
              </a:rPr>
              <a:t>±2 pts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64"/>
                </a:solidFill>
                <a:latin typeface="Consolas"/>
              </a:rPr>
              <a:t>PROVEN-EQUIVALENT MARGIN (TOST, p≈1e-8)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828800"/>
            <a:ext cx="56692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400" b="1" i="0">
                <a:solidFill>
                  <a:srgbClr val="18211E"/>
                </a:solidFill>
                <a:latin typeface="Georgia"/>
              </a:rPr>
              <a:t>Not a drop — statistically equivalent.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8211E"/>
                </a:solidFill>
                <a:latin typeface="Georgia"/>
              </a:rPr>
              <a:t>On the 56,174 masked spans, detector recall is 76.2% → 75.0% (−1.2 pts). With 56k paired observations even a tiny shift trips a plain significance test, so we use an equivalence test instead.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5C6B64"/>
                </a:solidFill>
                <a:latin typeface="Georgia"/>
              </a:rPr>
              <a:t>It confirms the change is statistically equivalent to zero within ±2 points — provably too small to matter, not merely “not significant.”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03 · THE HONEST GAP — HOW MUCH DOES IT HIDE?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8211E"/>
                </a:solidFill>
                <a:latin typeface="Georgia"/>
              </a:rPr>
              <a:t>On real medical records, it hides names and dates well — but misses about half of ID numbers and addresses.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8211E"/>
                </a:solidFill>
                <a:latin typeface="Georgia"/>
              </a:rPr>
              <a:t>Names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304288"/>
            <a:ext cx="4206240" cy="29260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0" y="2304288"/>
            <a:ext cx="3154679" cy="292608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6E5C"/>
                </a:solidFill>
                <a:latin typeface="Consolas"/>
              </a:rPr>
              <a:t>hides ~3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2724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8211E"/>
                </a:solidFill>
                <a:latin typeface="Georgia"/>
              </a:rPr>
              <a:t>Dates / 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145536"/>
            <a:ext cx="4206240" cy="29260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3145536"/>
            <a:ext cx="3070555" cy="292608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3127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6E5C"/>
                </a:solidFill>
                <a:latin typeface="Consolas"/>
              </a:rPr>
              <a:t>hides ~3 of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6849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8211E"/>
                </a:solidFill>
                <a:latin typeface="Georgia"/>
              </a:rPr>
              <a:t>ID numbers (patient ID, phone)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3986784"/>
            <a:ext cx="4206240" cy="29260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640" y="3986784"/>
            <a:ext cx="2145182" cy="292608"/>
          </a:xfrm>
          <a:prstGeom prst="rect">
            <a:avLst/>
          </a:prstGeom>
          <a:solidFill>
            <a:srgbClr val="BD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968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D5B36"/>
                </a:solidFill>
                <a:latin typeface="Consolas"/>
              </a:rPr>
              <a:t>hides ~1 of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097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8211E"/>
                </a:solidFill>
                <a:latin typeface="Georgia"/>
              </a:rPr>
              <a:t>Addresses / places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4828032"/>
            <a:ext cx="4206240" cy="292608"/>
          </a:xfrm>
          <a:prstGeom prst="rect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0" y="4828032"/>
            <a:ext cx="1850745" cy="292608"/>
          </a:xfrm>
          <a:prstGeom prst="rect">
            <a:avLst/>
          </a:prstGeom>
          <a:solidFill>
            <a:srgbClr val="BD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4809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D5B36"/>
                </a:solidFill>
                <a:latin typeface="Consolas"/>
              </a:rPr>
              <a:t>hides ~1 of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F6E5C"/>
                </a:solidFill>
                <a:latin typeface="Consolas"/>
              </a:rPr>
              <a:t>04 · THE GOOD NEWS ABOUT THE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881360" cy="2794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7800" b="1" i="0">
                <a:solidFill>
                  <a:srgbClr val="0F6E5C"/>
                </a:solidFill>
                <a:latin typeface="Consolas"/>
              </a:rPr>
              <a:t>~3 in 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C6B64"/>
                </a:solidFill>
                <a:latin typeface="Consolas"/>
              </a:rPr>
              <a:t>OF THE MISSES, THE TOOL ALREADY KNEW IT WAS PRIVATE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920240"/>
            <a:ext cx="56692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400" b="1" i="0">
                <a:solidFill>
                  <a:srgbClr val="18211E"/>
                </a:solidFill>
                <a:latin typeface="Georgia"/>
              </a:rPr>
              <a:t>It's a swapping gap, not a finding gap.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8211E"/>
                </a:solidFill>
                <a:latin typeface="Georgia"/>
              </a:rPr>
              <a:t>For most of what slips through, the tool had already flagged it as sensitive — it just didn't swap it. So the fix is in the swap step, not in teaching it what's private.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C6B64"/>
                </a:solidFill>
                <a:latin typeface="Georgia"/>
              </a:rPr>
              <a:t>That's the easier kind of problem to fix.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1" i="0">
                <a:solidFill>
                  <a:srgbClr val="0F6E5C"/>
                </a:solidFill>
                <a:latin typeface="Consolas"/>
              </a:rPr>
              <a:t>Bottom line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Great at keeping data usable. Next: hide more completely.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C5CDC8"/>
                </a:solidFill>
                <a:latin typeface="Georgia"/>
              </a:rPr>
              <a:t>• The swap doesn't break anything — that's ready to show clients.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C5CDC8"/>
                </a:solidFill>
                <a:latin typeface="Georgia"/>
              </a:rPr>
              <a:t>• It hides names and dates well, but misses ~half of ID numbers and addresses.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C5CDC8"/>
                </a:solidFill>
                <a:latin typeface="Georgia"/>
              </a:rPr>
              <a:t>• Most misses are already detected — fixing the swap step should close the gap.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F6E5C"/>
                </a:solidFill>
                <a:latin typeface="Consolas"/>
              </a:rPr>
              <a:t>Full data → custodianai.pages.dev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