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CUSTODIAN LABS · GUARDIAN LAYER · INTERNAL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4400" b="1" i="0">
                <a:solidFill>
                  <a:srgbClr val="18211E"/>
                </a:solidFill>
                <a:latin typeface="Georgia"/>
              </a:rPr>
              <a:t>What we learned</a:t>
            </a:r>
          </a:p>
          <a:p>
            <a:pPr>
              <a:spcAft>
                <a:spcPts val="600"/>
              </a:spcAft>
            </a:pPr>
            <a:r>
              <a:rPr sz="4400" b="1" i="1">
                <a:solidFill>
                  <a:srgbClr val="0F6E5C"/>
                </a:solidFill>
                <a:latin typeface="Georgia"/>
              </a:rPr>
              <a:t>about the privacy swap.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01 · KEEPS DATA USABLE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600" b="1" i="0">
                <a:solidFill>
                  <a:srgbClr val="0F6E5C"/>
                </a:solidFill>
                <a:latin typeface="Consolas"/>
              </a:rPr>
              <a:t>97–100%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5C6B64"/>
                </a:solidFill>
                <a:latin typeface="Georgia"/>
              </a:rPr>
              <a:t>swapped info still found by other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834640"/>
            <a:ext cx="4206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900" b="1" i="0">
                <a:solidFill>
                  <a:srgbClr val="18211E"/>
                </a:solidFill>
                <a:latin typeface="Georgia"/>
              </a:rPr>
              <a:t>Across 11 tools,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18211E"/>
                </a:solidFill>
                <a:latin typeface="Georgia"/>
              </a:rPr>
              <a:t>7 datasets. Format intact.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02 · IS THE CHANGE SIGNIFICANT?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600" b="1" i="0">
                <a:solidFill>
                  <a:srgbClr val="0F6E5C"/>
                </a:solidFill>
                <a:latin typeface="Consolas"/>
              </a:rPr>
              <a:t>±2 pts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5C6B64"/>
                </a:solidFill>
                <a:latin typeface="Georgia"/>
              </a:rPr>
              <a:t>statistically equivalent to zero (TOST)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743200"/>
            <a:ext cx="4297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900" b="1" i="0">
                <a:solidFill>
                  <a:srgbClr val="18211E"/>
                </a:solidFill>
                <a:latin typeface="Georgia"/>
              </a:rPr>
              <a:t>Recall 76.2% → 75.0%.</a:t>
            </a:r>
          </a:p>
          <a:p>
            <a:pPr>
              <a:spcAft>
                <a:spcPts val="200"/>
              </a:spcAft>
            </a:pPr>
            <a:r>
              <a:rPr sz="1900" b="0" i="0">
                <a:solidFill>
                  <a:srgbClr val="18211E"/>
                </a:solidFill>
                <a:latin typeface="Georgia"/>
              </a:rPr>
              <a:t>Not a drop — too small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18211E"/>
                </a:solidFill>
                <a:latin typeface="Georgia"/>
              </a:rPr>
              <a:t>to matter.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03 · BUT HOW MUCH DOES IT HIDE?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18211E"/>
                </a:solidFill>
                <a:latin typeface="Georgia"/>
              </a:rPr>
              <a:t>Names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0" y="1764792"/>
            <a:ext cx="5120640" cy="38404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3360" y="1764792"/>
            <a:ext cx="3840479" cy="384048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17373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0F6E5C"/>
                </a:solidFill>
                <a:latin typeface="Consolas"/>
              </a:rPr>
              <a:t>3 of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18211E"/>
                </a:solidFill>
                <a:latin typeface="Georgia"/>
              </a:rPr>
              <a:t>Dates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24912"/>
            <a:ext cx="5120640" cy="38404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2724912"/>
            <a:ext cx="3738067" cy="384048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0" y="2697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0F6E5C"/>
                </a:solidFill>
                <a:latin typeface="Consolas"/>
              </a:rPr>
              <a:t>3 of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576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18211E"/>
                </a:solidFill>
                <a:latin typeface="Georgia"/>
              </a:rPr>
              <a:t>ID numbers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685032"/>
            <a:ext cx="5120640" cy="38404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0" y="3685032"/>
            <a:ext cx="2611526" cy="384048"/>
          </a:xfrm>
          <a:prstGeom prst="rect">
            <a:avLst/>
          </a:prstGeom>
          <a:solidFill>
            <a:srgbClr val="BD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36576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BD5B36"/>
                </a:solidFill>
                <a:latin typeface="Consolas"/>
              </a:rPr>
              <a:t>1 of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177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18211E"/>
                </a:solidFill>
                <a:latin typeface="Georgia"/>
              </a:rPr>
              <a:t>Addresses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4645152"/>
            <a:ext cx="5120640" cy="38404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0" y="4645152"/>
            <a:ext cx="2253081" cy="384048"/>
          </a:xfrm>
          <a:prstGeom prst="rect">
            <a:avLst/>
          </a:prstGeom>
          <a:solidFill>
            <a:srgbClr val="BD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461772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BD5B36"/>
                </a:solidFill>
                <a:latin typeface="Consolas"/>
              </a:rPr>
              <a:t>1 of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04 · THE GAP IS FIXABLE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000" b="1" i="0">
                <a:solidFill>
                  <a:srgbClr val="0F6E5C"/>
                </a:solidFill>
                <a:latin typeface="Consolas"/>
              </a:rPr>
              <a:t>~3 in 4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5C6B64"/>
                </a:solidFill>
                <a:latin typeface="Georgia"/>
              </a:rPr>
              <a:t>misses were already detected — just not swapped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94560"/>
            <a:ext cx="48463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8211E"/>
                </a:solidFill>
                <a:latin typeface="Georgia"/>
              </a:rPr>
              <a:t>Broken surrogates miss: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BD5B36"/>
                </a:solidFill>
                <a:latin typeface="Consolas"/>
              </a:rPr>
              <a:t>Chicago → Illino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BD5B36"/>
                </a:solidFill>
                <a:latin typeface="Consolas"/>
              </a:rPr>
              <a:t>El Paso → El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BD5B36"/>
                </a:solidFill>
                <a:latin typeface="Consolas"/>
              </a:rPr>
              <a:t>Cedars-Sinai → Vidant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5C6B64"/>
                </a:solidFill>
                <a:latin typeface="Georgia"/>
              </a:rPr>
              <a:t>Fix the swap step, not the detector.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Usable: proven. Hide more: next.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C5CDC8"/>
                </a:solidFill>
                <a:latin typeface="Georgia"/>
              </a:rPr>
              <a:t>✓  Swap doesn’t break data — equivalent within ±2 pts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C5CDC8"/>
                </a:solidFill>
                <a:latin typeface="Georgia"/>
              </a:rPr>
              <a:t>✓  Hides names/dates well; misses ~half of IDs &amp; addresses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C5CDC8"/>
                </a:solidFill>
                <a:latin typeface="Georgia"/>
              </a:rPr>
              <a:t>✓  Most misses already detected — fixable in the swap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 i="0">
                <a:solidFill>
                  <a:srgbClr val="0F6E5C"/>
                </a:solidFill>
                <a:latin typeface="Consolas"/>
              </a:rPr>
              <a:t>custodianai.pages.dev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