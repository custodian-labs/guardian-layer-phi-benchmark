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F6E5C"/>
                </a:solidFill>
                <a:latin typeface="Consolas"/>
              </a:rPr>
              <a:t>CUSTODIAN LABS · GUARDIAN LAYER · INTERNAL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881360" cy="27940"/>
          </a:xfrm>
          <a:prstGeom prst="rect">
            <a:avLst/>
          </a:prstGeom>
          <a:solidFill>
            <a:srgbClr val="18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8813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18211E"/>
                </a:solidFill>
                <a:latin typeface="Georgia"/>
              </a:rPr>
              <a:t>What we learned about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4400" b="1" i="1">
                <a:solidFill>
                  <a:srgbClr val="0F6E5C"/>
                </a:solidFill>
                <a:latin typeface="Georgia"/>
              </a:rPr>
              <a:t>the privacy swap.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5C6B64"/>
                </a:solidFill>
                <a:latin typeface="Georgia"/>
              </a:rPr>
              <a:t>Two things matter: does it keep data usable, and does it hide enough? Here's the honest read on both.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943600"/>
            <a:ext cx="10881360" cy="27940"/>
          </a:xfrm>
          <a:prstGeom prst="rect">
            <a:avLst/>
          </a:prstGeom>
          <a:solidFill>
            <a:srgbClr val="18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053328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C6B64"/>
                </a:solidFill>
                <a:latin typeface="Consolas"/>
              </a:rPr>
              <a:t>Internal — for the team. The client-facing deck covers the usability win only.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F6E5C"/>
                </a:solidFill>
                <a:latin typeface="Consolas"/>
              </a:rPr>
              <a:t>01 · THE GOOD NEWS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881360" cy="27940"/>
          </a:xfrm>
          <a:prstGeom prst="rect">
            <a:avLst/>
          </a:prstGeom>
          <a:solidFill>
            <a:srgbClr val="18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7800" b="1" i="0">
                <a:solidFill>
                  <a:srgbClr val="0F6E5C"/>
                </a:solidFill>
                <a:latin typeface="Consolas"/>
              </a:rPr>
              <a:t>97–100%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5C6B64"/>
                </a:solidFill>
                <a:latin typeface="Consolas"/>
              </a:rPr>
              <a:t>WHEN IT SWAPS SOMETHING, OTHER TOOLS STILL FIND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1920240"/>
            <a:ext cx="56692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400" b="1" i="0">
                <a:solidFill>
                  <a:srgbClr val="18211E"/>
                </a:solidFill>
                <a:latin typeface="Georgia"/>
              </a:rPr>
              <a:t>The swap keeps data usable.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18211E"/>
                </a:solidFill>
                <a:latin typeface="Georgia"/>
              </a:rPr>
              <a:t>After swapping, other tools still spot the sensitive details almost every time, and the format (medical notes, forms, data files) stays exactly the same. Nothing downstream breaks.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5C6B64"/>
                </a:solidFill>
                <a:latin typeface="Georgia"/>
              </a:rPr>
              <a:t>This is the client-facing win — solid across 9 tools and 7 datasets.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F6E5C"/>
                </a:solidFill>
                <a:latin typeface="Consolas"/>
              </a:rPr>
              <a:t>02 · THE HONEST GAP — HOW MUCH DOES IT HIDE?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881360" cy="27940"/>
          </a:xfrm>
          <a:prstGeom prst="rect">
            <a:avLst/>
          </a:prstGeom>
          <a:solidFill>
            <a:srgbClr val="18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8211E"/>
                </a:solidFill>
                <a:latin typeface="Georgia"/>
              </a:rPr>
              <a:t>On real medical records, it hides names and dates well — but misses about half of ID numbers and addresses.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8211E"/>
                </a:solidFill>
                <a:latin typeface="Georgia"/>
              </a:rPr>
              <a:t>Names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0" y="2304288"/>
            <a:ext cx="4206240" cy="2926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0" y="2304288"/>
            <a:ext cx="3154679" cy="292608"/>
          </a:xfrm>
          <a:prstGeom prst="rect">
            <a:avLst/>
          </a:prstGeom>
          <a:solidFill>
            <a:srgbClr val="0F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0" y="22860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6E5C"/>
                </a:solidFill>
                <a:latin typeface="Consolas"/>
              </a:rPr>
              <a:t>hides ~3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27248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8211E"/>
                </a:solidFill>
                <a:latin typeface="Georgia"/>
              </a:rPr>
              <a:t>Dates / 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3145536"/>
            <a:ext cx="4206240" cy="2926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20640" y="3145536"/>
            <a:ext cx="3070555" cy="292608"/>
          </a:xfrm>
          <a:prstGeom prst="rect">
            <a:avLst/>
          </a:prstGeom>
          <a:solidFill>
            <a:srgbClr val="0F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312724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6E5C"/>
                </a:solidFill>
                <a:latin typeface="Consolas"/>
              </a:rPr>
              <a:t>hides ~3 of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68496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8211E"/>
                </a:solidFill>
                <a:latin typeface="Georgia"/>
              </a:rPr>
              <a:t>ID numbers (patient ID, phone)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3986784"/>
            <a:ext cx="4206240" cy="2926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20640" y="3986784"/>
            <a:ext cx="2145182" cy="292608"/>
          </a:xfrm>
          <a:prstGeom prst="rect">
            <a:avLst/>
          </a:prstGeom>
          <a:solidFill>
            <a:srgbClr val="BD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3968496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BD5B36"/>
                </a:solidFill>
                <a:latin typeface="Consolas"/>
              </a:rPr>
              <a:t>hides ~1 of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809744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8211E"/>
                </a:solidFill>
                <a:latin typeface="Georgia"/>
              </a:rPr>
              <a:t>Addresses / places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4828032"/>
            <a:ext cx="4206240" cy="2926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20640" y="4828032"/>
            <a:ext cx="1850745" cy="292608"/>
          </a:xfrm>
          <a:prstGeom prst="rect">
            <a:avLst/>
          </a:prstGeom>
          <a:solidFill>
            <a:srgbClr val="BD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0" y="4809744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BD5B36"/>
                </a:solidFill>
                <a:latin typeface="Consolas"/>
              </a:rPr>
              <a:t>hides ~1 of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F6E5C"/>
                </a:solidFill>
                <a:latin typeface="Consolas"/>
              </a:rPr>
              <a:t>03 · THE GOOD NEWS ABOUT THE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881360" cy="27940"/>
          </a:xfrm>
          <a:prstGeom prst="rect">
            <a:avLst/>
          </a:prstGeom>
          <a:solidFill>
            <a:srgbClr val="18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7800" b="1" i="0">
                <a:solidFill>
                  <a:srgbClr val="0F6E5C"/>
                </a:solidFill>
                <a:latin typeface="Consolas"/>
              </a:rPr>
              <a:t>~3 in 4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5C6B64"/>
                </a:solidFill>
                <a:latin typeface="Consolas"/>
              </a:rPr>
              <a:t>OF THE MISSES, THE TOOL ALREADY KNEW IT WAS PRIVATE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1920240"/>
            <a:ext cx="56692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400" b="1" i="0">
                <a:solidFill>
                  <a:srgbClr val="18211E"/>
                </a:solidFill>
                <a:latin typeface="Georgia"/>
              </a:rPr>
              <a:t>It's a swapping gap, not a finding gap.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18211E"/>
                </a:solidFill>
                <a:latin typeface="Georgia"/>
              </a:rPr>
              <a:t>For most of what slips through, the tool had already flagged it as sensitive — it just didn't swap it. So the fix is in the swap step, not in teaching it what's private.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5C6B64"/>
                </a:solidFill>
                <a:latin typeface="Georgia"/>
              </a:rPr>
              <a:t>That's the easier kind of problem to fix.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1" i="0">
                <a:solidFill>
                  <a:srgbClr val="0F6E5C"/>
                </a:solidFill>
                <a:latin typeface="Consolas"/>
              </a:rPr>
              <a:t>Bottom line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Great at keeping data usable. Next: hide more completely.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C5CDC8"/>
                </a:solidFill>
                <a:latin typeface="Georgia"/>
              </a:rPr>
              <a:t>• The swap doesn't break anything — that's ready to show clients.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C5CDC8"/>
                </a:solidFill>
                <a:latin typeface="Georgia"/>
              </a:rPr>
              <a:t>• It hides names and dates well, but misses ~half of ID numbers and addresses.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C5CDC8"/>
                </a:solidFill>
                <a:latin typeface="Georgia"/>
              </a:rPr>
              <a:t>• Most misses are already detected — fixing the swap step should close the gap.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F6E5C"/>
                </a:solidFill>
                <a:latin typeface="Consolas"/>
              </a:rPr>
              <a:t>Full data → custodianai.pages.dev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